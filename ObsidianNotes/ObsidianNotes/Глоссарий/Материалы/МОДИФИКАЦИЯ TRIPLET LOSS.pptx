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9F9F9"/>
    <a:srgbClr val="EEEEEE"/>
    <a:srgbClr val="E6E6E6"/>
    <a:srgbClr val="FCC756"/>
    <a:srgbClr val="FCD649"/>
    <a:srgbClr val="FB8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3C660-5730-42FD-8721-D6155B832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1342AD-323F-4D1F-A807-8CDCB21A3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2514CA-D5AF-4B4D-8797-1AF74EDE8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EB3786-4E36-4A77-AC4A-D235A827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58D47-A553-40B8-8D02-FBFD0C5B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17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400D4-375D-447B-8A9C-FB34F514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7F7382-7B1D-400B-983D-7366501C2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19623A-6695-4987-B7F6-28C8968D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5D8A6E-3356-4A70-8A0D-0C60B159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AB474D-6AB6-4B74-AAC9-588D8747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16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3BA2A-C003-46B8-B1B5-9F66C0A4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BB16AA-4374-4DF5-A73B-9E2A7A646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67140-86FE-43C7-BB78-A9637584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DED48E-3F0C-4858-8491-50355D73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4BDD47-3790-494D-A88B-6FFE3284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12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3B05D-2369-48DD-98DE-741B3996D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32321F-239B-4140-8EFF-A2CD9F088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1B601A-D017-4911-BF21-029716285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2DD66C-4232-4681-B814-BFFDA5A4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71871B-804D-4F9D-B3A9-D124F0AA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801480-485E-467B-B83E-012BC627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5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62FCD-5D68-4E96-9D65-5959689F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F0C7C8-CF85-4D2C-A1FB-5A0435384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9DA81E-0419-4039-AEF2-0131C35F6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D29E2D1-8B08-47C9-8E04-2889AC487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098914-E386-485D-962D-BEC5861B9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F3578C-FFCE-4ACF-8D5D-07707876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E0047C-13A0-47F7-906E-48B2B9F4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3205C32-11AC-4592-9115-A6C49464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4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98BA8-C96C-434E-AFB2-B480BC94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8B79BDE-E27B-4E6D-924E-37AC12C8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83785D-6B61-4AB8-A13D-B6C2CF675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B17D9-7DE9-4007-B08C-26583DD5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1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CE6898-5A55-4B7C-9774-B93B933B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26C052-72F1-4782-9296-7BC3A3CC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71590F-3971-4B74-8485-4A50777B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22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58F7F-DC37-401E-9E23-F38074F20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5CA247-2B1B-4915-A93B-9F8F153F5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F4E847-C38A-4BC0-959E-C41E6016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595908-2215-4384-938E-FB7275235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1446F2-86B6-4F0A-BC1A-260A6620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AF9643-913A-4EF2-84D8-87F29E7E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539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897C2-939D-440C-B8B8-1CE781BC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32E625-73E3-42A8-8CE2-1EB59E540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26B089-59A0-4AEA-8278-96D2A93E1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0552DA-ECFB-4EF0-9898-69D0AFE9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9F8CC9-E029-44BF-B4B6-6C112AEB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834487-6C95-4015-9C14-7C632830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458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550DA-F3F4-47BF-B77F-21F6652C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20537E-D6EE-4142-9993-6471471CE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A22337-F089-4D1C-836B-3C614574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ECD7F2-4D06-477C-9D80-46D300C39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14B84D-AB48-4265-9687-55E7E145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9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44DAC0-3431-42CA-82F8-1BFED62F4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182F18-54C4-4249-991A-C37E95601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2D59AF-CD8F-43A4-A7F2-4C595F58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B6B0F8-82AA-4B8A-859B-9B4CA3185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581938-08B8-42EF-8205-5F46165D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39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732B8-68D2-4AFD-9D95-CE9E90C9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F202FE-9043-4117-832A-4144FC3D1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C88EE-8597-4B04-989A-688C134DD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F49FC-3B72-450E-98AB-1BD79F63489E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97128B-4C2D-4EFD-9795-ED6B239C8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58C0C-8ADF-4A5A-B7C9-5D010A3AB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48F25-35A8-428F-BBF5-77CDF6ADC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62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F8B78F1-B888-4374-B170-2F3A8AF8AD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F3F3"/>
              </a:gs>
              <a:gs pos="50000">
                <a:schemeClr val="bg1"/>
              </a:gs>
              <a:gs pos="100000">
                <a:srgbClr val="E6E6E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46F80EB-D5F3-4391-A139-601D2BC3D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9000" contras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545" y="3386002"/>
            <a:ext cx="7652270" cy="3549234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20D97F6-FDD7-4C6B-B4D4-3DF72FCFC4DD}"/>
              </a:ext>
            </a:extLst>
          </p:cNvPr>
          <p:cNvSpPr/>
          <p:nvPr/>
        </p:nvSpPr>
        <p:spPr>
          <a:xfrm>
            <a:off x="1132840" y="1306596"/>
            <a:ext cx="9926319" cy="49172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61287-E61A-4FE0-BF71-FF3EDB946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194" y="1229360"/>
            <a:ext cx="10623612" cy="2387600"/>
          </a:xfrm>
        </p:spPr>
        <p:txBody>
          <a:bodyPr>
            <a:normAutofit/>
          </a:bodyPr>
          <a:lstStyle/>
          <a:p>
            <a:r>
              <a:rPr lang="ru-RU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  <a:t>МОДИФИКАЦИЯ </a:t>
            </a:r>
            <a:r>
              <a:rPr lang="en-US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  <a:t>TRIPLET LOSS</a:t>
            </a:r>
            <a:br>
              <a:rPr lang="ru-RU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ru-RU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  <a:t>ДЛЯ ЗАДАЧИ РАСПОЗНАВАНИЯ ОБЪЕКТОВ </a:t>
            </a:r>
            <a:br>
              <a:rPr lang="ru-RU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ru-RU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  <a:t>ИЗ ОТКРЫТОГО СЛОВАРЯ, </a:t>
            </a:r>
            <a:br>
              <a:rPr lang="ru-RU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ru-RU" sz="3200" b="1" kern="100" spc="210" dirty="0"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  <a:t>ПОЛУЧЕННЫХ ПРИ ПОМОЩИ БПЛА</a:t>
            </a:r>
            <a:endParaRPr lang="ru-RU" sz="8000" spc="210" dirty="0">
              <a:latin typeface="Benzin-Bold" panose="00000800000000000000" pitchFamily="2" charset="-52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5A5C7A-8DA9-48CF-9DFF-5247A92C2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474" y="4089559"/>
            <a:ext cx="9144000" cy="1655762"/>
          </a:xfrm>
        </p:spPr>
        <p:txBody>
          <a:bodyPr>
            <a:normAutofit/>
          </a:bodyPr>
          <a:lstStyle/>
          <a:p>
            <a:pPr algn="l">
              <a:lnSpc>
                <a:spcPct val="50000"/>
              </a:lnSpc>
            </a:pPr>
            <a:r>
              <a:rPr lang="ru-RU" sz="2800" dirty="0">
                <a:latin typeface="Bahnschrift Condensed" panose="020B0502040204020203" pitchFamily="34" charset="0"/>
              </a:rPr>
              <a:t>ПАВЛЕНКО БОГДАН     </a:t>
            </a:r>
          </a:p>
          <a:p>
            <a:pPr algn="l">
              <a:lnSpc>
                <a:spcPct val="50000"/>
              </a:lnSpc>
            </a:pPr>
            <a:r>
              <a:rPr lang="ru-RU" sz="2800" dirty="0">
                <a:latin typeface="Bahnschrift Condensed" panose="020B0502040204020203" pitchFamily="34" charset="0"/>
              </a:rPr>
              <a:t>МНС ФГБНУ «ИПИИ»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DCF6ABB-2114-42F7-A173-B0D7EC18AD1A}"/>
              </a:ext>
            </a:extLst>
          </p:cNvPr>
          <p:cNvSpPr/>
          <p:nvPr/>
        </p:nvSpPr>
        <p:spPr>
          <a:xfrm>
            <a:off x="-1910080" y="5974080"/>
            <a:ext cx="9926319" cy="72263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617B9E6-4DE2-43E5-92B7-9D6942366EDD}"/>
              </a:ext>
            </a:extLst>
          </p:cNvPr>
          <p:cNvSpPr/>
          <p:nvPr/>
        </p:nvSpPr>
        <p:spPr>
          <a:xfrm>
            <a:off x="8341360" y="5974080"/>
            <a:ext cx="3603322" cy="7226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D0A567-DBAA-46ED-B56B-09BE55B4B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930" y="290817"/>
            <a:ext cx="712138" cy="73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7191D4-BD2F-484D-8947-6155D21CC130}"/>
              </a:ext>
            </a:extLst>
          </p:cNvPr>
          <p:cNvSpPr txBox="1"/>
          <p:nvPr/>
        </p:nvSpPr>
        <p:spPr>
          <a:xfrm>
            <a:off x="528320" y="5951915"/>
            <a:ext cx="7051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ФГБНУ «Институт проблем искусственного интеллекта»</a:t>
            </a:r>
          </a:p>
          <a:p>
            <a:r>
              <a:rPr lang="ru-RU" sz="2000" dirty="0">
                <a:latin typeface="Bahnschrift Condensed" panose="020B0502040204020203" pitchFamily="34" charset="0"/>
              </a:rPr>
              <a:t>г. Донецк  -  Донецкая народная республика.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A358B0-9C64-474D-8324-2EFA1DF10911}"/>
              </a:ext>
            </a:extLst>
          </p:cNvPr>
          <p:cNvSpPr txBox="1"/>
          <p:nvPr/>
        </p:nvSpPr>
        <p:spPr>
          <a:xfrm>
            <a:off x="8554720" y="6073788"/>
            <a:ext cx="7051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ahnschrift Condensed" panose="020B0502040204020203" pitchFamily="34" charset="0"/>
              </a:rPr>
              <a:t>TRIPLET      OVD        БПЛА</a:t>
            </a:r>
          </a:p>
        </p:txBody>
      </p:sp>
    </p:spTree>
    <p:extLst>
      <p:ext uri="{BB962C8B-B14F-4D97-AF65-F5344CB8AC3E}">
        <p14:creationId xmlns:p14="http://schemas.microsoft.com/office/powerpoint/2010/main" val="426062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3087BAA-57B0-43DC-BEB3-81E92415BD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F3F3"/>
              </a:gs>
              <a:gs pos="50000">
                <a:schemeClr val="bg1"/>
              </a:gs>
              <a:gs pos="100000">
                <a:srgbClr val="E6E6E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3EC67FB-C04D-42F6-B27D-AC674B4EF422}"/>
              </a:ext>
            </a:extLst>
          </p:cNvPr>
          <p:cNvSpPr/>
          <p:nvPr/>
        </p:nvSpPr>
        <p:spPr>
          <a:xfrm>
            <a:off x="-477520" y="351553"/>
            <a:ext cx="3495040" cy="6413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052D5-62EA-4242-855F-A39148E8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" y="119231"/>
            <a:ext cx="2331720" cy="1106000"/>
          </a:xfrm>
        </p:spPr>
        <p:txBody>
          <a:bodyPr/>
          <a:lstStyle/>
          <a:p>
            <a:r>
              <a:rPr lang="ru-RU" dirty="0">
                <a:latin typeface="Bahnschrift Condensed" panose="020B0502040204020203" pitchFamily="34" charset="0"/>
              </a:rPr>
              <a:t>Введение                                   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867A62-12F0-425E-B04E-604B694CD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135326"/>
            <a:ext cx="6218859" cy="4705485"/>
          </a:xfrm>
        </p:spPr>
        <p:txBody>
          <a:bodyPr>
            <a:noAutofit/>
          </a:bodyPr>
          <a:lstStyle/>
          <a:p>
            <a:pPr indent="450215">
              <a:lnSpc>
                <a:spcPct val="107000"/>
              </a:lnSpc>
              <a:spcAft>
                <a:spcPts val="0"/>
              </a:spcAft>
            </a:pPr>
            <a:r>
              <a:rPr lang="ru-RU" sz="3200" kern="100" dirty="0">
                <a:solidFill>
                  <a:srgbClr val="000000"/>
                </a:solidFill>
                <a:effectLst/>
                <a:latin typeface="Benzin-Bold" panose="00000800000000000000" pitchFamily="2" charset="-52"/>
                <a:ea typeface="Malgun Gothic" panose="020B0503020000020004" pitchFamily="34" charset="-127"/>
                <a:cs typeface="Times New Roman" panose="02020603050405020304" pitchFamily="18" charset="0"/>
              </a:rPr>
              <a:t>Обнаружение объектов </a:t>
            </a:r>
            <a:r>
              <a:rPr lang="en-US" sz="36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(Object detection)</a:t>
            </a:r>
            <a:r>
              <a:rPr lang="ru-RU" sz="3600" kern="100" dirty="0">
                <a:solidFill>
                  <a:srgbClr val="333333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–</a:t>
            </a:r>
            <a:r>
              <a:rPr lang="ru-RU" sz="3600" kern="1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это область компьютерного зрения, которая занимается решением задачи локализации и классификации объектов, содержащихся на изображении или видео. </a:t>
            </a:r>
            <a:endParaRPr lang="en-US" sz="3600" kern="100" dirty="0">
              <a:effectLst/>
              <a:latin typeface="Bahnschrift Condensed" panose="020B0502040204020203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D0B6DD-6ABB-4683-85B9-67E6C6C36CB4}"/>
              </a:ext>
            </a:extLst>
          </p:cNvPr>
          <p:cNvSpPr/>
          <p:nvPr/>
        </p:nvSpPr>
        <p:spPr>
          <a:xfrm>
            <a:off x="-81280" y="6073133"/>
            <a:ext cx="12273280" cy="7848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>
                <a:latin typeface="Bahnschrift Condensed" panose="020B0502040204020203" pitchFamily="34" charset="0"/>
              </a:rPr>
              <a:t>Павленко Богдан</a:t>
            </a:r>
            <a:endParaRPr lang="en-US" sz="1800" dirty="0">
              <a:latin typeface="Bahnschrift Condensed" panose="020B0502040204020203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E7B725C-82FB-4B87-A1BC-484FA8013C63}"/>
              </a:ext>
            </a:extLst>
          </p:cNvPr>
          <p:cNvSpPr/>
          <p:nvPr/>
        </p:nvSpPr>
        <p:spPr>
          <a:xfrm>
            <a:off x="9699322" y="6136002"/>
            <a:ext cx="2350438" cy="6413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1601FA6-59B3-4AAC-A8CC-311E4336D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6184836"/>
            <a:ext cx="553720" cy="56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6FD792-213E-4DCC-A544-8DA37319C00F}"/>
              </a:ext>
            </a:extLst>
          </p:cNvPr>
          <p:cNvSpPr txBox="1"/>
          <p:nvPr/>
        </p:nvSpPr>
        <p:spPr>
          <a:xfrm>
            <a:off x="767080" y="6161452"/>
            <a:ext cx="6192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Bahnschrift Condensed" panose="020B0502040204020203" pitchFamily="34" charset="0"/>
              </a:rPr>
              <a:t>Павленко Богдан</a:t>
            </a:r>
            <a:endParaRPr lang="en-US" sz="1800" dirty="0">
              <a:latin typeface="Bahnschrift Condensed" panose="020B0502040204020203" pitchFamily="34" charset="0"/>
            </a:endParaRPr>
          </a:p>
          <a:p>
            <a:r>
              <a:rPr lang="ru-RU" sz="1800" dirty="0">
                <a:latin typeface="Bahnschrift Condensed" panose="020B0502040204020203" pitchFamily="34" charset="0"/>
              </a:rPr>
              <a:t>ФГБНУ «Институт проблем искусственного интеллекта»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4439F-B4CC-4BAA-8128-542372EDF88C}"/>
              </a:ext>
            </a:extLst>
          </p:cNvPr>
          <p:cNvSpPr txBox="1"/>
          <p:nvPr/>
        </p:nvSpPr>
        <p:spPr>
          <a:xfrm>
            <a:off x="10650689" y="6215549"/>
            <a:ext cx="3367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enzin-Bold" panose="00000800000000000000" pitchFamily="2" charset="-52"/>
              </a:rPr>
              <a:t>/   10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F67E94A-08C2-445D-BAE5-62900FAC7364}"/>
              </a:ext>
            </a:extLst>
          </p:cNvPr>
          <p:cNvSpPr/>
          <p:nvPr/>
        </p:nvSpPr>
        <p:spPr>
          <a:xfrm>
            <a:off x="7166278" y="1135326"/>
            <a:ext cx="3603322" cy="7226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F0BDF-A303-4B5F-93BD-F4D7C52ABA20}"/>
              </a:ext>
            </a:extLst>
          </p:cNvPr>
          <p:cNvSpPr txBox="1"/>
          <p:nvPr/>
        </p:nvSpPr>
        <p:spPr>
          <a:xfrm>
            <a:off x="8093710" y="1235034"/>
            <a:ext cx="2059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kern="1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Локализация</a:t>
            </a:r>
            <a:endParaRPr lang="ru-RU" sz="2800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19B2FD8C-6447-4D95-8949-56C4059A46B7}"/>
              </a:ext>
            </a:extLst>
          </p:cNvPr>
          <p:cNvCxnSpPr>
            <a:stCxn id="12" idx="2"/>
          </p:cNvCxnSpPr>
          <p:nvPr/>
        </p:nvCxnSpPr>
        <p:spPr>
          <a:xfrm>
            <a:off x="8967939" y="1857962"/>
            <a:ext cx="0" cy="578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004D458-7266-4E7D-A8B7-BDC71D85C5CB}"/>
              </a:ext>
            </a:extLst>
          </p:cNvPr>
          <p:cNvSpPr txBox="1"/>
          <p:nvPr/>
        </p:nvSpPr>
        <p:spPr>
          <a:xfrm>
            <a:off x="7534910" y="2316823"/>
            <a:ext cx="3054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Ограничивающая рамка</a:t>
            </a:r>
            <a:endParaRPr lang="en-US" sz="2800" kern="100" dirty="0">
              <a:solidFill>
                <a:srgbClr val="000000"/>
              </a:solidFill>
              <a:latin typeface="Bahnschrift Condensed" panose="020B0502040204020203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algn="ctr"/>
            <a:r>
              <a:rPr lang="en-US" sz="28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(bounding box)</a:t>
            </a:r>
            <a:endParaRPr lang="ru-RU" sz="2800" kern="100" dirty="0">
              <a:solidFill>
                <a:srgbClr val="000000"/>
              </a:solidFill>
              <a:latin typeface="Bahnschrift Condensed" panose="020B0502040204020203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EA7BC7AD-AFD7-487E-81B3-6DE0F96C1A94}"/>
              </a:ext>
            </a:extLst>
          </p:cNvPr>
          <p:cNvSpPr/>
          <p:nvPr/>
        </p:nvSpPr>
        <p:spPr>
          <a:xfrm>
            <a:off x="7166278" y="3573921"/>
            <a:ext cx="3603322" cy="7226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C3B6F7-AD52-4F4B-A2FA-F76D294F8DF0}"/>
              </a:ext>
            </a:extLst>
          </p:cNvPr>
          <p:cNvSpPr txBox="1"/>
          <p:nvPr/>
        </p:nvSpPr>
        <p:spPr>
          <a:xfrm>
            <a:off x="7839710" y="3673629"/>
            <a:ext cx="3054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Классификация</a:t>
            </a:r>
            <a:endParaRPr lang="ru-RU" sz="2800" dirty="0"/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3AFB9F23-5D52-431D-B85A-AEC863B4B02E}"/>
              </a:ext>
            </a:extLst>
          </p:cNvPr>
          <p:cNvCxnSpPr>
            <a:stCxn id="24" idx="2"/>
          </p:cNvCxnSpPr>
          <p:nvPr/>
        </p:nvCxnSpPr>
        <p:spPr>
          <a:xfrm>
            <a:off x="8967939" y="4296557"/>
            <a:ext cx="0" cy="578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CC62363-30C7-4773-AFC5-FDB344F0A399}"/>
              </a:ext>
            </a:extLst>
          </p:cNvPr>
          <p:cNvSpPr txBox="1"/>
          <p:nvPr/>
        </p:nvSpPr>
        <p:spPr>
          <a:xfrm>
            <a:off x="7440764" y="4740717"/>
            <a:ext cx="3054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Предсказанная метка класса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25A318-381F-4402-A688-4E8CBA857795}"/>
              </a:ext>
            </a:extLst>
          </p:cNvPr>
          <p:cNvSpPr txBox="1"/>
          <p:nvPr/>
        </p:nvSpPr>
        <p:spPr>
          <a:xfrm>
            <a:off x="9996502" y="6208091"/>
            <a:ext cx="773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enzin-Bold" panose="00000800000000000000" pitchFamily="2" charset="-52"/>
              </a:rPr>
              <a:t>1</a:t>
            </a:r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4E720BCD-6A91-457F-AF78-ACF61074C9E6}"/>
              </a:ext>
            </a:extLst>
          </p:cNvPr>
          <p:cNvSpPr txBox="1">
            <a:spLocks/>
          </p:cNvSpPr>
          <p:nvPr/>
        </p:nvSpPr>
        <p:spPr>
          <a:xfrm>
            <a:off x="8315960" y="138166"/>
            <a:ext cx="1680542" cy="110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Benzin-Bold" panose="00000800000000000000" pitchFamily="2" charset="-52"/>
              </a:rPr>
              <a:t>OD</a:t>
            </a:r>
            <a:r>
              <a:rPr lang="ru-RU" dirty="0">
                <a:latin typeface="Bahnschrift Condensed" panose="020B0502040204020203" pitchFamily="34" charset="0"/>
              </a:rPr>
              <a:t>                                    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97A029-3916-4ECD-92C3-AECD12767414}"/>
              </a:ext>
            </a:extLst>
          </p:cNvPr>
          <p:cNvSpPr/>
          <p:nvPr/>
        </p:nvSpPr>
        <p:spPr>
          <a:xfrm>
            <a:off x="6644968" y="351553"/>
            <a:ext cx="4652952" cy="5489257"/>
          </a:xfrm>
          <a:prstGeom prst="roundRect">
            <a:avLst>
              <a:gd name="adj" fmla="val 8088"/>
            </a:avLst>
          </a:prstGeom>
          <a:noFill/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827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5514C7B-1AFE-4AF9-AAFF-A9A7D90C5D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F3F3"/>
              </a:gs>
              <a:gs pos="50000">
                <a:schemeClr val="bg1"/>
              </a:gs>
              <a:gs pos="100000">
                <a:srgbClr val="E6E6E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3EC67FB-C04D-42F6-B27D-AC674B4EF422}"/>
              </a:ext>
            </a:extLst>
          </p:cNvPr>
          <p:cNvSpPr/>
          <p:nvPr/>
        </p:nvSpPr>
        <p:spPr>
          <a:xfrm>
            <a:off x="-477520" y="351553"/>
            <a:ext cx="3495040" cy="6413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052D5-62EA-4242-855F-A39148E8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" y="119231"/>
            <a:ext cx="10515600" cy="1106000"/>
          </a:xfrm>
        </p:spPr>
        <p:txBody>
          <a:bodyPr/>
          <a:lstStyle/>
          <a:p>
            <a:r>
              <a:rPr lang="ru-RU" dirty="0">
                <a:latin typeface="Bahnschrift Condensed" panose="020B0502040204020203" pitchFamily="34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867A62-12F0-425E-B04E-604B694CD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135326"/>
            <a:ext cx="11630661" cy="1832009"/>
          </a:xfrm>
        </p:spPr>
        <p:txBody>
          <a:bodyPr>
            <a:noAutofit/>
          </a:bodyPr>
          <a:lstStyle/>
          <a:p>
            <a:pPr indent="450215">
              <a:lnSpc>
                <a:spcPct val="100000"/>
              </a:lnSpc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</a:rPr>
              <a:t>До популяризации глубокого обучения </a:t>
            </a:r>
            <a:r>
              <a:rPr lang="en-US" sz="32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</a:rPr>
              <a:t>(DL) </a:t>
            </a:r>
            <a:r>
              <a:rPr lang="ru-RU" sz="32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</a:rPr>
              <a:t>для задачи обнаружения объектов, почти все операции по обнаружению объектов выполнялись с помощью классических методов машинного обучения</a:t>
            </a:r>
            <a:r>
              <a:rPr lang="en-US" sz="32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</a:rPr>
              <a:t> (ML)</a:t>
            </a:r>
            <a:r>
              <a:rPr lang="ru-RU" sz="32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</a:rPr>
              <a:t>. </a:t>
            </a:r>
            <a:endParaRPr lang="en-US" sz="5400" kern="100" dirty="0">
              <a:effectLst/>
              <a:latin typeface="Bahnschrift Condensed" panose="020B0502040204020203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D0B6DD-6ABB-4683-85B9-67E6C6C36CB4}"/>
              </a:ext>
            </a:extLst>
          </p:cNvPr>
          <p:cNvSpPr/>
          <p:nvPr/>
        </p:nvSpPr>
        <p:spPr>
          <a:xfrm>
            <a:off x="-81280" y="6073133"/>
            <a:ext cx="12273280" cy="7848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>
                <a:latin typeface="Bahnschrift Condensed" panose="020B0502040204020203" pitchFamily="34" charset="0"/>
              </a:rPr>
              <a:t>Павленко Богдан</a:t>
            </a:r>
            <a:endParaRPr lang="en-US" sz="1800" dirty="0">
              <a:latin typeface="Bahnschrift Condensed" panose="020B0502040204020203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E7B725C-82FB-4B87-A1BC-484FA8013C63}"/>
              </a:ext>
            </a:extLst>
          </p:cNvPr>
          <p:cNvSpPr/>
          <p:nvPr/>
        </p:nvSpPr>
        <p:spPr>
          <a:xfrm>
            <a:off x="9699322" y="6136002"/>
            <a:ext cx="2350438" cy="6413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1601FA6-59B3-4AAC-A8CC-311E4336D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6184836"/>
            <a:ext cx="553720" cy="56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6FD792-213E-4DCC-A544-8DA37319C00F}"/>
              </a:ext>
            </a:extLst>
          </p:cNvPr>
          <p:cNvSpPr txBox="1"/>
          <p:nvPr/>
        </p:nvSpPr>
        <p:spPr>
          <a:xfrm>
            <a:off x="767080" y="6161452"/>
            <a:ext cx="6192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Bahnschrift Condensed" panose="020B0502040204020203" pitchFamily="34" charset="0"/>
              </a:rPr>
              <a:t>Павленко Богдан</a:t>
            </a:r>
            <a:endParaRPr lang="en-US" sz="1800" dirty="0">
              <a:latin typeface="Bahnschrift Condensed" panose="020B0502040204020203" pitchFamily="34" charset="0"/>
            </a:endParaRPr>
          </a:p>
          <a:p>
            <a:r>
              <a:rPr lang="ru-RU" sz="1800" dirty="0">
                <a:latin typeface="Bahnschrift Condensed" panose="020B0502040204020203" pitchFamily="34" charset="0"/>
              </a:rPr>
              <a:t>ФГБНУ «Институт проблем искусственного интеллекта»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4439F-B4CC-4BAA-8128-542372EDF88C}"/>
              </a:ext>
            </a:extLst>
          </p:cNvPr>
          <p:cNvSpPr txBox="1"/>
          <p:nvPr/>
        </p:nvSpPr>
        <p:spPr>
          <a:xfrm>
            <a:off x="10650689" y="6215549"/>
            <a:ext cx="3367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enzin-Bold" panose="00000800000000000000" pitchFamily="2" charset="-52"/>
              </a:rPr>
              <a:t>/   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25A318-381F-4402-A688-4E8CBA857795}"/>
              </a:ext>
            </a:extLst>
          </p:cNvPr>
          <p:cNvSpPr txBox="1"/>
          <p:nvPr/>
        </p:nvSpPr>
        <p:spPr>
          <a:xfrm>
            <a:off x="9996502" y="6208091"/>
            <a:ext cx="773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enzin-Bold" panose="00000800000000000000" pitchFamily="2" charset="-52"/>
              </a:rPr>
              <a:t>2</a:t>
            </a:r>
          </a:p>
        </p:txBody>
      </p:sp>
      <p:graphicFrame>
        <p:nvGraphicFramePr>
          <p:cNvPr id="11" name="Таблица 12">
            <a:extLst>
              <a:ext uri="{FF2B5EF4-FFF2-40B4-BE49-F238E27FC236}">
                <a16:creationId xmlns:a16="http://schemas.microsoft.com/office/drawing/2014/main" id="{7E180C6B-D5E6-4AAE-B7CE-D2A476837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83579"/>
              </p:ext>
            </p:extLst>
          </p:nvPr>
        </p:nvGraphicFramePr>
        <p:xfrm>
          <a:off x="600075" y="2776747"/>
          <a:ext cx="10991850" cy="32552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029857">
                  <a:extLst>
                    <a:ext uri="{9D8B030D-6E8A-4147-A177-3AD203B41FA5}">
                      <a16:colId xmlns:a16="http://schemas.microsoft.com/office/drawing/2014/main" val="1573481329"/>
                    </a:ext>
                  </a:extLst>
                </a:gridCol>
                <a:gridCol w="4298043">
                  <a:extLst>
                    <a:ext uri="{9D8B030D-6E8A-4147-A177-3AD203B41FA5}">
                      <a16:colId xmlns:a16="http://schemas.microsoft.com/office/drawing/2014/main" val="2505437325"/>
                    </a:ext>
                  </a:extLst>
                </a:gridCol>
                <a:gridCol w="3663950">
                  <a:extLst>
                    <a:ext uri="{9D8B030D-6E8A-4147-A177-3AD203B41FA5}">
                      <a16:colId xmlns:a16="http://schemas.microsoft.com/office/drawing/2014/main" val="1105753352"/>
                    </a:ext>
                  </a:extLst>
                </a:gridCol>
              </a:tblGrid>
              <a:tr h="651043">
                <a:tc>
                  <a:txBody>
                    <a:bodyPr/>
                    <a:lstStyle/>
                    <a:p>
                      <a:pPr algn="l"/>
                      <a:endParaRPr lang="ru-RU" sz="2800" b="0" spc="300" baseline="0" dirty="0">
                        <a:solidFill>
                          <a:schemeClr val="tx1"/>
                        </a:solidFill>
                        <a:latin typeface="Bahnschrift Condensed" panose="020B0502040204020203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7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spc="300" baseline="0" dirty="0">
                          <a:solidFill>
                            <a:schemeClr val="tx1"/>
                          </a:solidFill>
                          <a:latin typeface="Benzin-Bold" panose="00000800000000000000" pitchFamily="2" charset="-52"/>
                        </a:rPr>
                        <a:t>ML</a:t>
                      </a:r>
                      <a:endParaRPr lang="ru-RU" sz="2800" b="1" spc="300" baseline="0" dirty="0">
                        <a:solidFill>
                          <a:schemeClr val="tx1"/>
                        </a:solidFill>
                        <a:latin typeface="Benzin-Bold" panose="00000800000000000000" pitchFamily="2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pc="300" baseline="0" dirty="0">
                          <a:solidFill>
                            <a:schemeClr val="tx1"/>
                          </a:solidFill>
                          <a:latin typeface="Benzin-Bold" panose="00000800000000000000" pitchFamily="2" charset="-52"/>
                        </a:rPr>
                        <a:t>DL</a:t>
                      </a:r>
                      <a:endParaRPr lang="ru-RU" sz="2800" b="1" spc="300" baseline="0" dirty="0">
                        <a:solidFill>
                          <a:schemeClr val="tx1"/>
                        </a:solidFill>
                        <a:latin typeface="Benzin-Bold" panose="00000800000000000000" pitchFamily="2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63071"/>
                  </a:ext>
                </a:extLst>
              </a:tr>
              <a:tr h="651043"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Извлечение признаков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Ручное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Автоматическое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81291"/>
                  </a:ext>
                </a:extLst>
              </a:tr>
              <a:tr h="651043"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Закономерности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Простые и явные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Сложные и нелинейные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444524"/>
                  </a:ext>
                </a:extLst>
              </a:tr>
              <a:tr h="651043"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Объемы данных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Достаточно малых объемов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Требует больших объемов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243775"/>
                  </a:ext>
                </a:extLst>
              </a:tr>
              <a:tr h="651043"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>
                          <a:latin typeface="Bahnschrift Condensed" panose="020B0502040204020203" pitchFamily="34" charset="0"/>
                        </a:rPr>
                        <a:t>Вычислительные затраты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Низкие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Bahnschrift Condensed" panose="020B0502040204020203" pitchFamily="34" charset="0"/>
                        </a:rPr>
                        <a:t>Высокие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490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961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3A8264F-2D48-4E9A-A762-6663691AEE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3F3F3"/>
              </a:gs>
              <a:gs pos="50000">
                <a:schemeClr val="bg1"/>
              </a:gs>
              <a:gs pos="100000">
                <a:srgbClr val="E6E6E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 dirty="0">
              <a:latin typeface="Bahnschrift Condensed" panose="020B0502040204020203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CBD7508-51A9-4AD2-90A4-BE0593F50F99}"/>
              </a:ext>
            </a:extLst>
          </p:cNvPr>
          <p:cNvSpPr/>
          <p:nvPr/>
        </p:nvSpPr>
        <p:spPr>
          <a:xfrm>
            <a:off x="3484880" y="1839489"/>
            <a:ext cx="5537200" cy="1259311"/>
          </a:xfrm>
          <a:prstGeom prst="roundRect">
            <a:avLst>
              <a:gd name="adj" fmla="val 20959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3EC67FB-C04D-42F6-B27D-AC674B4EF422}"/>
              </a:ext>
            </a:extLst>
          </p:cNvPr>
          <p:cNvSpPr/>
          <p:nvPr/>
        </p:nvSpPr>
        <p:spPr>
          <a:xfrm>
            <a:off x="-477520" y="351553"/>
            <a:ext cx="6024880" cy="6413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052D5-62EA-4242-855F-A39148E8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" y="119231"/>
            <a:ext cx="10515600" cy="1106000"/>
          </a:xfrm>
        </p:spPr>
        <p:txBody>
          <a:bodyPr/>
          <a:lstStyle/>
          <a:p>
            <a:r>
              <a:rPr lang="ru-RU" dirty="0">
                <a:latin typeface="Bahnschrift Condensed" panose="020B0502040204020203" pitchFamily="34" charset="0"/>
              </a:rPr>
              <a:t>Представление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1867A62-12F0-425E-B04E-604B694CD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8254" y="1815878"/>
                <a:ext cx="5150451" cy="2050498"/>
              </a:xfrm>
            </p:spPr>
            <p:txBody>
              <a:bodyPr>
                <a:noAutofit/>
              </a:bodyPr>
              <a:lstStyle/>
              <a:p>
                <a:pPr indent="0">
                  <a:lnSpc>
                    <a:spcPct val="10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800" i="1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ru-RU" sz="4800" i="1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4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4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4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4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ru-RU" sz="4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sz="4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4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4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ru-RU" sz="4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ru-RU" sz="4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ru-RU" sz="4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4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4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3800" kern="100" dirty="0">
                  <a:effectLst/>
                  <a:latin typeface="Bahnschrift Condensed" panose="020B0502040204020203" pitchFamily="34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1867A62-12F0-425E-B04E-604B694CD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8254" y="1815878"/>
                <a:ext cx="5150451" cy="20504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D0B6DD-6ABB-4683-85B9-67E6C6C36CB4}"/>
              </a:ext>
            </a:extLst>
          </p:cNvPr>
          <p:cNvSpPr/>
          <p:nvPr/>
        </p:nvSpPr>
        <p:spPr>
          <a:xfrm>
            <a:off x="-81280" y="6073133"/>
            <a:ext cx="12273280" cy="7848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>
                <a:latin typeface="Bahnschrift Condensed" panose="020B0502040204020203" pitchFamily="34" charset="0"/>
              </a:rPr>
              <a:t>Павленко Богдан</a:t>
            </a:r>
            <a:endParaRPr lang="en-US" sz="1800" dirty="0">
              <a:latin typeface="Bahnschrift Condensed" panose="020B0502040204020203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E7B725C-82FB-4B87-A1BC-484FA8013C63}"/>
              </a:ext>
            </a:extLst>
          </p:cNvPr>
          <p:cNvSpPr/>
          <p:nvPr/>
        </p:nvSpPr>
        <p:spPr>
          <a:xfrm>
            <a:off x="9699322" y="6136002"/>
            <a:ext cx="2350438" cy="6413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1601FA6-59B3-4AAC-A8CC-311E4336D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6184836"/>
            <a:ext cx="553720" cy="56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6FD792-213E-4DCC-A544-8DA37319C00F}"/>
              </a:ext>
            </a:extLst>
          </p:cNvPr>
          <p:cNvSpPr txBox="1"/>
          <p:nvPr/>
        </p:nvSpPr>
        <p:spPr>
          <a:xfrm>
            <a:off x="767080" y="6161452"/>
            <a:ext cx="6192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Bahnschrift Condensed" panose="020B0502040204020203" pitchFamily="34" charset="0"/>
              </a:rPr>
              <a:t>Павленко Богдан</a:t>
            </a:r>
            <a:endParaRPr lang="en-US" sz="1800" dirty="0">
              <a:latin typeface="Bahnschrift Condensed" panose="020B0502040204020203" pitchFamily="34" charset="0"/>
            </a:endParaRPr>
          </a:p>
          <a:p>
            <a:r>
              <a:rPr lang="ru-RU" sz="1800" dirty="0">
                <a:latin typeface="Bahnschrift Condensed" panose="020B0502040204020203" pitchFamily="34" charset="0"/>
              </a:rPr>
              <a:t>ФГБНУ «Институт проблем искусственного интеллекта»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4439F-B4CC-4BAA-8128-542372EDF88C}"/>
              </a:ext>
            </a:extLst>
          </p:cNvPr>
          <p:cNvSpPr txBox="1"/>
          <p:nvPr/>
        </p:nvSpPr>
        <p:spPr>
          <a:xfrm>
            <a:off x="10650689" y="6215549"/>
            <a:ext cx="3367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enzin-Bold" panose="00000800000000000000" pitchFamily="2" charset="-52"/>
              </a:rPr>
              <a:t>/   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25A318-381F-4402-A688-4E8CBA857795}"/>
              </a:ext>
            </a:extLst>
          </p:cNvPr>
          <p:cNvSpPr txBox="1"/>
          <p:nvPr/>
        </p:nvSpPr>
        <p:spPr>
          <a:xfrm>
            <a:off x="9996502" y="6208091"/>
            <a:ext cx="773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enzin-Bold" panose="00000800000000000000" pitchFamily="2" charset="-52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944258-CB2A-49FC-BA89-A0736F651119}"/>
              </a:ext>
            </a:extLst>
          </p:cNvPr>
          <p:cNvSpPr txBox="1"/>
          <p:nvPr/>
        </p:nvSpPr>
        <p:spPr>
          <a:xfrm>
            <a:off x="0" y="1081228"/>
            <a:ext cx="6939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</a:rPr>
              <a:t>Имеется размеченный набор данных </a:t>
            </a:r>
            <a:endParaRPr lang="ru-RU" sz="3600" dirty="0">
              <a:latin typeface="Bahnschrift Condensed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F6682A-EC67-45A5-809E-8678989E93AD}"/>
                  </a:ext>
                </a:extLst>
              </p:cNvPr>
              <p:cNvSpPr txBox="1"/>
              <p:nvPr/>
            </p:nvSpPr>
            <p:spPr>
              <a:xfrm>
                <a:off x="345438" y="3122411"/>
                <a:ext cx="11704321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ru-RU" sz="3600" dirty="0">
                    <a:solidFill>
                      <a:srgbClr val="000000"/>
                    </a:solidFill>
                    <a:effectLst/>
                    <a:latin typeface="Bahnschrift Condensed" panose="020B0502040204020203" pitchFamily="34" charset="0"/>
                    <a:ea typeface="Malgun Gothic" panose="020B0503020000020004" pitchFamily="34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3600" b="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3600" dirty="0">
                    <a:latin typeface="Bahnschrift Condensed" panose="020B0502040204020203" pitchFamily="34" charset="0"/>
                  </a:rPr>
                  <a:t>- </a:t>
                </a:r>
                <a:r>
                  <a:rPr lang="en-US" sz="3600" dirty="0">
                    <a:latin typeface="Bahnschrift Condensed" panose="020B0502040204020203" pitchFamily="34" charset="0"/>
                  </a:rPr>
                  <a:t>i-</a:t>
                </a:r>
                <a:r>
                  <a:rPr lang="ru-RU" sz="3600" dirty="0">
                    <a:latin typeface="Bahnschrift Condensed" panose="020B0502040204020203" pitchFamily="34" charset="0"/>
                  </a:rPr>
                  <a:t>е изображение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sz="3600" baseline="-25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ru-RU" sz="360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</a:rPr>
                  <a:t> и </a:t>
                </a:r>
                <a:r>
                  <a:rPr lang="en-US" sz="3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sz="3600" baseline="-25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sz="3600" b="1" baseline="-25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3600" dirty="0">
                    <a:effectLst/>
                    <a:latin typeface="Bahnschrift Condensed" panose="020B0502040204020203" pitchFamily="34" charset="0"/>
                    <a:ea typeface="Malgun Gothic" panose="020B0503020000020004" pitchFamily="34" charset="-127"/>
                  </a:rPr>
                  <a:t>– </a:t>
                </a:r>
                <a:r>
                  <a:rPr lang="ru-RU" sz="3600" dirty="0">
                    <a:effectLst/>
                    <a:latin typeface="Bahnschrift Condensed" panose="020B0502040204020203" pitchFamily="34" charset="0"/>
                    <a:ea typeface="Malgun Gothic" panose="020B0503020000020004" pitchFamily="34" charset="-127"/>
                  </a:rPr>
                  <a:t>тренировочная и тестовая выборки</a:t>
                </a:r>
                <a:r>
                  <a:rPr lang="en-US" sz="360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</a:rPr>
                  <a:t>  </a:t>
                </a:r>
                <a:r>
                  <a:rPr lang="ru-RU" sz="3600" dirty="0">
                    <a:latin typeface="Bahnschrift Condensed" panose="020B0502040204020203" pitchFamily="34" charset="0"/>
                  </a:rPr>
                  <a:t> 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dirty="0">
                    <a:latin typeface="Bahnschrift Condensed" panose="020B0502040204020203" pitchFamily="34" charset="0"/>
                  </a:rPr>
                  <a:t> - набор аннотированных объектов</a:t>
                </a:r>
                <a:r>
                  <a:rPr lang="en-US" sz="3600" dirty="0">
                    <a:latin typeface="Bahnschrift Condensed" panose="020B0502040204020203" pitchFamily="34" charset="0"/>
                  </a:rPr>
                  <a:t> </a:t>
                </a:r>
                <a:r>
                  <a:rPr lang="en-US" sz="3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sz="3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ru-RU" sz="3600" dirty="0">
                    <a:latin typeface="Bahnschrift Condensed" panose="020B0502040204020203" pitchFamily="34" charset="0"/>
                  </a:rPr>
                  <a:t> </a:t>
                </a:r>
                <a:r>
                  <a:rPr lang="en-US" sz="3600" dirty="0">
                    <a:latin typeface="Bahnschrift Condensed" panose="020B0502040204020203" pitchFamily="34" charset="0"/>
                  </a:rPr>
                  <a:t>- </a:t>
                </a:r>
                <a:r>
                  <a:rPr lang="ru-RU" sz="3600" dirty="0">
                    <a:latin typeface="Bahnschrift Condensed" panose="020B0502040204020203" pitchFamily="34" charset="0"/>
                  </a:rPr>
                  <a:t>ограничивающая рамка </a:t>
                </a:r>
                <a:r>
                  <a:rPr lang="en-US" sz="3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3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3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600" b="0" i="1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3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latin typeface="Bahnschrift Condensed" panose="020B0502040204020203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3600" dirty="0">
                    <a:latin typeface="Bahnschrift Condensed" panose="020B0502040204020203" pitchFamily="34" charset="0"/>
                  </a:rPr>
                  <a:t> – </a:t>
                </a:r>
                <a:r>
                  <a:rPr lang="ru-RU" sz="3600" dirty="0">
                    <a:latin typeface="Bahnschrift Condensed" panose="020B0502040204020203" pitchFamily="34" charset="0"/>
                  </a:rPr>
                  <a:t>предсказанный класс из пространства классов </a:t>
                </a:r>
                <a14:m>
                  <m:oMath xmlns:m="http://schemas.openxmlformats.org/officeDocument/2006/math"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endParaRPr lang="ru-RU" sz="3600" dirty="0">
                  <a:latin typeface="Bahnschrift Condensed" panose="020B0502040204020203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F6682A-EC67-45A5-809E-8678989E9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8" y="3122411"/>
                <a:ext cx="11704321" cy="2862322"/>
              </a:xfrm>
              <a:prstGeom prst="rect">
                <a:avLst/>
              </a:prstGeom>
              <a:blipFill>
                <a:blip r:embed="rId4"/>
                <a:stretch>
                  <a:fillRect l="-1458" t="-3404" b="-68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33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3A8264F-2D48-4E9A-A762-6663691AEE9C}"/>
              </a:ext>
            </a:extLst>
          </p:cNvPr>
          <p:cNvSpPr/>
          <p:nvPr/>
        </p:nvSpPr>
        <p:spPr>
          <a:xfrm>
            <a:off x="8656" y="0"/>
            <a:ext cx="12192000" cy="6858000"/>
          </a:xfrm>
          <a:prstGeom prst="rect">
            <a:avLst/>
          </a:prstGeom>
          <a:gradFill>
            <a:gsLst>
              <a:gs pos="0">
                <a:srgbClr val="F3F3F3"/>
              </a:gs>
              <a:gs pos="50000">
                <a:schemeClr val="bg1"/>
              </a:gs>
              <a:gs pos="100000">
                <a:srgbClr val="E6E6E6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 dirty="0">
              <a:latin typeface="Bahnschrift Condensed" panose="020B0502040204020203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CBD7508-51A9-4AD2-90A4-BE0593F50F99}"/>
              </a:ext>
            </a:extLst>
          </p:cNvPr>
          <p:cNvSpPr/>
          <p:nvPr/>
        </p:nvSpPr>
        <p:spPr>
          <a:xfrm>
            <a:off x="6305350" y="2210612"/>
            <a:ext cx="4518391" cy="3472993"/>
          </a:xfrm>
          <a:prstGeom prst="roundRect">
            <a:avLst>
              <a:gd name="adj" fmla="val 20959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3EC67FB-C04D-42F6-B27D-AC674B4EF422}"/>
              </a:ext>
            </a:extLst>
          </p:cNvPr>
          <p:cNvSpPr/>
          <p:nvPr/>
        </p:nvSpPr>
        <p:spPr>
          <a:xfrm>
            <a:off x="-477520" y="351553"/>
            <a:ext cx="6024880" cy="6413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052D5-62EA-4242-855F-A39148E8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" y="119231"/>
            <a:ext cx="10515600" cy="1106000"/>
          </a:xfrm>
        </p:spPr>
        <p:txBody>
          <a:bodyPr/>
          <a:lstStyle/>
          <a:p>
            <a:r>
              <a:rPr lang="ru-RU" dirty="0">
                <a:latin typeface="Bahnschrift Condensed" panose="020B0502040204020203" pitchFamily="34" charset="0"/>
              </a:rPr>
              <a:t>Представление 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D0B6DD-6ABB-4683-85B9-67E6C6C36CB4}"/>
              </a:ext>
            </a:extLst>
          </p:cNvPr>
          <p:cNvSpPr/>
          <p:nvPr/>
        </p:nvSpPr>
        <p:spPr>
          <a:xfrm>
            <a:off x="-81280" y="6073133"/>
            <a:ext cx="12273280" cy="7848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>
                <a:latin typeface="Bahnschrift Condensed" panose="020B0502040204020203" pitchFamily="34" charset="0"/>
              </a:rPr>
              <a:t>Павленко Богдан</a:t>
            </a:r>
            <a:endParaRPr lang="en-US" sz="1800" dirty="0">
              <a:latin typeface="Bahnschrift Condensed" panose="020B0502040204020203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E7B725C-82FB-4B87-A1BC-484FA8013C63}"/>
              </a:ext>
            </a:extLst>
          </p:cNvPr>
          <p:cNvSpPr/>
          <p:nvPr/>
        </p:nvSpPr>
        <p:spPr>
          <a:xfrm>
            <a:off x="9699322" y="6136002"/>
            <a:ext cx="2350438" cy="6413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CD649"/>
              </a:gs>
              <a:gs pos="100000">
                <a:srgbClr val="FB8C5E"/>
              </a:gs>
            </a:gsLst>
            <a:lin ang="36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1601FA6-59B3-4AAC-A8CC-311E4336D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6184836"/>
            <a:ext cx="553720" cy="56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6FD792-213E-4DCC-A544-8DA37319C00F}"/>
              </a:ext>
            </a:extLst>
          </p:cNvPr>
          <p:cNvSpPr txBox="1"/>
          <p:nvPr/>
        </p:nvSpPr>
        <p:spPr>
          <a:xfrm>
            <a:off x="767080" y="6161452"/>
            <a:ext cx="6192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Bahnschrift Condensed" panose="020B0502040204020203" pitchFamily="34" charset="0"/>
              </a:rPr>
              <a:t>Павленко Богдан</a:t>
            </a:r>
            <a:endParaRPr lang="en-US" sz="1800" dirty="0">
              <a:latin typeface="Bahnschrift Condensed" panose="020B0502040204020203" pitchFamily="34" charset="0"/>
            </a:endParaRPr>
          </a:p>
          <a:p>
            <a:r>
              <a:rPr lang="ru-RU" sz="1800" dirty="0">
                <a:latin typeface="Bahnschrift Condensed" panose="020B0502040204020203" pitchFamily="34" charset="0"/>
              </a:rPr>
              <a:t>ФГБНУ «Институт проблем искусственного интеллекта»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4439F-B4CC-4BAA-8128-542372EDF88C}"/>
              </a:ext>
            </a:extLst>
          </p:cNvPr>
          <p:cNvSpPr txBox="1"/>
          <p:nvPr/>
        </p:nvSpPr>
        <p:spPr>
          <a:xfrm>
            <a:off x="10650689" y="6215549"/>
            <a:ext cx="3367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enzin-Bold" panose="00000800000000000000" pitchFamily="2" charset="-52"/>
              </a:rPr>
              <a:t>/   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25A318-381F-4402-A688-4E8CBA857795}"/>
              </a:ext>
            </a:extLst>
          </p:cNvPr>
          <p:cNvSpPr txBox="1"/>
          <p:nvPr/>
        </p:nvSpPr>
        <p:spPr>
          <a:xfrm>
            <a:off x="9996502" y="6208091"/>
            <a:ext cx="773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Benzin-Bold" panose="00000800000000000000" pitchFamily="2" charset="-52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944258-CB2A-49FC-BA89-A0736F651119}"/>
                  </a:ext>
                </a:extLst>
              </p:cNvPr>
              <p:cNvSpPr txBox="1"/>
              <p:nvPr/>
            </p:nvSpPr>
            <p:spPr>
              <a:xfrm>
                <a:off x="419100" y="1104612"/>
                <a:ext cx="10634980" cy="1691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3200" dirty="0">
                    <a:solidFill>
                      <a:srgbClr val="000000"/>
                    </a:solidFill>
                    <a:effectLst/>
                    <a:latin typeface="Bahnschrift Condensed" panose="020B0502040204020203" pitchFamily="34" charset="0"/>
                    <a:ea typeface="Malgun Gothic" panose="020B0503020000020004" pitchFamily="34" charset="-127"/>
                  </a:rPr>
                  <a:t>Процесс формирования признаков на примере 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  <a:latin typeface="Bahnschrift Condensed" panose="020B0502040204020203" pitchFamily="34" charset="0"/>
                    <a:ea typeface="Malgun Gothic" panose="020B0503020000020004" pitchFamily="34" charset="-127"/>
                  </a:rPr>
                  <a:t>Faster R-CNN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𝐼</m:t>
                    </m:r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sz="3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𝐻</m:t>
                        </m:r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𝑊</m:t>
                        </m:r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×3</m:t>
                        </m:r>
                      </m:sup>
                    </m:sSup>
                    <m:r>
                      <a:rPr lang="ru-RU" sz="3600" b="0" i="0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3200" dirty="0">
                    <a:solidFill>
                      <a:srgbClr val="000000"/>
                    </a:solidFill>
                    <a:effectLst/>
                    <a:latin typeface="Bahnschrift Condensed" panose="020B0502040204020203" pitchFamily="34" charset="0"/>
                    <a:ea typeface="Malgun Gothic" panose="020B0503020000020004" pitchFamily="34" charset="-127"/>
                  </a:rPr>
                  <a:t>- входное изображение (</a:t>
                </a:r>
                <a:r>
                  <a:rPr lang="en-US" sz="3200" dirty="0">
                    <a:solidFill>
                      <a:srgbClr val="000000"/>
                    </a:solidFill>
                    <a:effectLst/>
                    <a:latin typeface="Bahnschrift Condensed" panose="020B0502040204020203" pitchFamily="34" charset="0"/>
                    <a:ea typeface="Malgun Gothic" panose="020B0503020000020004" pitchFamily="34" charset="-127"/>
                  </a:rPr>
                  <a:t>RGB)</a:t>
                </a:r>
              </a:p>
              <a:p>
                <a:r>
                  <a:rPr lang="ru-RU" sz="3600" dirty="0">
                    <a:solidFill>
                      <a:srgbClr val="000000"/>
                    </a:solidFill>
                    <a:effectLst/>
                    <a:latin typeface="Bahnschrift Condensed" panose="020B0502040204020203" pitchFamily="34" charset="0"/>
                    <a:ea typeface="Malgun Gothic" panose="020B0503020000020004" pitchFamily="34" charset="-127"/>
                  </a:rPr>
                  <a:t> </a:t>
                </a:r>
                <a:endParaRPr lang="ru-RU" sz="3600" dirty="0">
                  <a:latin typeface="Bahnschrift Condensed" panose="020B0502040204020203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944258-CB2A-49FC-BA89-A0736F651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1104612"/>
                <a:ext cx="10634980" cy="1691553"/>
              </a:xfrm>
              <a:prstGeom prst="rect">
                <a:avLst/>
              </a:prstGeom>
              <a:blipFill>
                <a:blip r:embed="rId3"/>
                <a:stretch>
                  <a:fillRect l="-1491" t="-46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DBA02C7-B109-4A91-A72B-4B76D9228665}"/>
              </a:ext>
            </a:extLst>
          </p:cNvPr>
          <p:cNvSpPr/>
          <p:nvPr/>
        </p:nvSpPr>
        <p:spPr>
          <a:xfrm>
            <a:off x="419100" y="2326188"/>
            <a:ext cx="1538437" cy="7226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38B83C-1DF5-4688-A729-87C3FA3C4F60}"/>
              </a:ext>
            </a:extLst>
          </p:cNvPr>
          <p:cNvSpPr txBox="1"/>
          <p:nvPr/>
        </p:nvSpPr>
        <p:spPr>
          <a:xfrm>
            <a:off x="548640" y="2437106"/>
            <a:ext cx="2059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0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backbone</a:t>
            </a:r>
            <a:endParaRPr lang="ru-RU" sz="2800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18D821E0-3343-46A7-A926-1A86A50ADCBA}"/>
              </a:ext>
            </a:extLst>
          </p:cNvPr>
          <p:cNvSpPr/>
          <p:nvPr/>
        </p:nvSpPr>
        <p:spPr>
          <a:xfrm>
            <a:off x="2214880" y="2325680"/>
            <a:ext cx="3604294" cy="7226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79BCA0-9235-405D-B2E8-10C830CE20C1}"/>
              </a:ext>
            </a:extLst>
          </p:cNvPr>
          <p:cNvSpPr txBox="1"/>
          <p:nvPr/>
        </p:nvSpPr>
        <p:spPr>
          <a:xfrm>
            <a:off x="2207885" y="2421253"/>
            <a:ext cx="3631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FPN </a:t>
            </a:r>
            <a:r>
              <a:rPr lang="en-US" sz="24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(Feature Pyramide Network)</a:t>
            </a:r>
            <a:endParaRPr lang="ru-RU" sz="2800" dirty="0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E9724C9-7421-40D2-A0F2-41F54F35423D}"/>
              </a:ext>
            </a:extLst>
          </p:cNvPr>
          <p:cNvCxnSpPr>
            <a:cxnSpLocks/>
          </p:cNvCxnSpPr>
          <p:nvPr/>
        </p:nvCxnSpPr>
        <p:spPr>
          <a:xfrm>
            <a:off x="1368259" y="3048824"/>
            <a:ext cx="0" cy="3332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6047563-B242-4A5D-A94D-F7C74C0C6D0F}"/>
              </a:ext>
            </a:extLst>
          </p:cNvPr>
          <p:cNvCxnSpPr>
            <a:cxnSpLocks/>
          </p:cNvCxnSpPr>
          <p:nvPr/>
        </p:nvCxnSpPr>
        <p:spPr>
          <a:xfrm>
            <a:off x="1364918" y="4089154"/>
            <a:ext cx="0" cy="3332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D7C50355-E19A-4897-ABFB-4C675F1D5FF9}"/>
              </a:ext>
            </a:extLst>
          </p:cNvPr>
          <p:cNvSpPr/>
          <p:nvPr/>
        </p:nvSpPr>
        <p:spPr>
          <a:xfrm>
            <a:off x="419100" y="3366518"/>
            <a:ext cx="4813300" cy="7226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F9E239-1434-4270-8E4C-8DC04593112A}"/>
              </a:ext>
            </a:extLst>
          </p:cNvPr>
          <p:cNvSpPr txBox="1"/>
          <p:nvPr/>
        </p:nvSpPr>
        <p:spPr>
          <a:xfrm>
            <a:off x="548640" y="3449351"/>
            <a:ext cx="4475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RPN (Region Proposal Network)</a:t>
            </a:r>
            <a:endParaRPr lang="ru-RU" sz="2800" dirty="0"/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7A1991D3-AB8B-42A4-A557-7707FEC2F5CE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5232400" y="3727836"/>
            <a:ext cx="10729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B16429-4C6F-48F0-9A0D-4B98186494ED}"/>
                  </a:ext>
                </a:extLst>
              </p:cNvPr>
              <p:cNvSpPr txBox="1"/>
              <p:nvPr/>
            </p:nvSpPr>
            <p:spPr>
              <a:xfrm>
                <a:off x="6373664" y="2379436"/>
                <a:ext cx="386414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ru-RU" sz="3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3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36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3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ru-RU" sz="3600" i="0"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ru-RU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ru-RU" sz="36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36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B16429-4C6F-48F0-9A0D-4B9818649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664" y="2379436"/>
                <a:ext cx="386414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F712FB6B-2FB2-4B8A-B602-DDD8A8850346}"/>
              </a:ext>
            </a:extLst>
          </p:cNvPr>
          <p:cNvSpPr txBox="1"/>
          <p:nvPr/>
        </p:nvSpPr>
        <p:spPr>
          <a:xfrm>
            <a:off x="6395286" y="3354862"/>
            <a:ext cx="14642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</a:rPr>
              <a:t>P</a:t>
            </a:r>
            <a:r>
              <a:rPr lang="ru-RU" sz="3200" dirty="0">
                <a:effectLst/>
                <a:latin typeface="Cambria Math" panose="02040503050406030204" pitchFamily="18" charset="0"/>
                <a:ea typeface="Malgun Gothic" panose="020B0503020000020004" pitchFamily="34" charset="-127"/>
                <a:cs typeface="Cambria Math" panose="02040503050406030204" pitchFamily="18" charset="0"/>
              </a:rPr>
              <a:t>⊂</a:t>
            </a:r>
            <a:r>
              <a:rPr lang="en-US" sz="32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</a:rPr>
              <a:t>R</a:t>
            </a:r>
            <a:r>
              <a:rPr lang="ru-RU" sz="3200" baseline="300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</a:rPr>
              <a:t>4</a:t>
            </a:r>
            <a:endParaRPr lang="ru-RU" sz="3200" dirty="0"/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F1F1E66-2409-4CFB-82A9-6178BDFC2308}"/>
              </a:ext>
            </a:extLst>
          </p:cNvPr>
          <p:cNvCxnSpPr>
            <a:cxnSpLocks/>
          </p:cNvCxnSpPr>
          <p:nvPr/>
        </p:nvCxnSpPr>
        <p:spPr>
          <a:xfrm>
            <a:off x="1954196" y="2715594"/>
            <a:ext cx="26068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B289E498-6A7B-4C38-BCC7-A3F88EE0C91F}"/>
              </a:ext>
            </a:extLst>
          </p:cNvPr>
          <p:cNvCxnSpPr>
            <a:cxnSpLocks/>
          </p:cNvCxnSpPr>
          <p:nvPr/>
        </p:nvCxnSpPr>
        <p:spPr>
          <a:xfrm>
            <a:off x="5819174" y="2698148"/>
            <a:ext cx="452962" cy="174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0B6CDAA7-8424-46A1-A29C-7B7363E24B8F}"/>
              </a:ext>
            </a:extLst>
          </p:cNvPr>
          <p:cNvSpPr/>
          <p:nvPr/>
        </p:nvSpPr>
        <p:spPr>
          <a:xfrm>
            <a:off x="375916" y="4436627"/>
            <a:ext cx="4813300" cy="7226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205894-BDAC-4191-803C-2B9098584972}"/>
              </a:ext>
            </a:extLst>
          </p:cNvPr>
          <p:cNvSpPr txBox="1"/>
          <p:nvPr/>
        </p:nvSpPr>
        <p:spPr>
          <a:xfrm>
            <a:off x="544823" y="4541147"/>
            <a:ext cx="4475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ru-RU" sz="2800" kern="100" dirty="0">
                <a:solidFill>
                  <a:srgbClr val="000000"/>
                </a:solidFill>
                <a:latin typeface="Bahnschrift Condensed" panose="020B0502040204020203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Выравнивание регионов интереса</a:t>
            </a:r>
            <a:endParaRPr lang="ru-R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B8A73ED-A182-4DE7-8A20-4F4C5A77C6D9}"/>
                  </a:ext>
                </a:extLst>
              </p:cNvPr>
              <p:cNvSpPr txBox="1"/>
              <p:nvPr/>
            </p:nvSpPr>
            <p:spPr>
              <a:xfrm>
                <a:off x="6459220" y="4361645"/>
                <a:ext cx="4594860" cy="777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32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𝐸</m:t>
                    </m:r>
                    <m:r>
                      <a:rPr lang="ru-RU" sz="320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⊂</m:t>
                    </m:r>
                    <m:sSup>
                      <m:sSupPr>
                        <m:ctrlPr>
                          <a:rPr lang="en-US" sz="32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ru-RU" sz="320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</a:rPr>
                  <a:t>. </a:t>
                </a:r>
                <a:endParaRPr lang="ru-RU" sz="32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B8A73ED-A182-4DE7-8A20-4F4C5A77C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220" y="4361645"/>
                <a:ext cx="4594860" cy="777713"/>
              </a:xfrm>
              <a:prstGeom prst="rect">
                <a:avLst/>
              </a:prstGeom>
              <a:blipFill>
                <a:blip r:embed="rId5"/>
                <a:stretch>
                  <a:fillRect t="-7031" b="-31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5C4B45D5-387B-4CD4-92E5-AD55FB6B5E4D}"/>
              </a:ext>
            </a:extLst>
          </p:cNvPr>
          <p:cNvCxnSpPr>
            <a:cxnSpLocks/>
          </p:cNvCxnSpPr>
          <p:nvPr/>
        </p:nvCxnSpPr>
        <p:spPr>
          <a:xfrm>
            <a:off x="5189216" y="4797945"/>
            <a:ext cx="10729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5376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300</Words>
  <Application>Microsoft Office PowerPoint</Application>
  <PresentationFormat>Широкоэкранный</PresentationFormat>
  <Paragraphs>69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3" baseType="lpstr">
      <vt:lpstr>Arial</vt:lpstr>
      <vt:lpstr>Bahnschrift Condensed</vt:lpstr>
      <vt:lpstr>Benzin-Bold</vt:lpstr>
      <vt:lpstr>Calibri</vt:lpstr>
      <vt:lpstr>Calibri Light</vt:lpstr>
      <vt:lpstr>Cambria Math</vt:lpstr>
      <vt:lpstr>Times New Roman</vt:lpstr>
      <vt:lpstr>Тема Office</vt:lpstr>
      <vt:lpstr>МОДИФИКАЦИЯ TRIPLET LOSS  ДЛЯ ЗАДАЧИ РАСПОЗНАВАНИЯ ОБЪЕКТОВ  ИЗ ОТКРЫТОГО СЛОВАРЯ,  ПОЛУЧЕННЫХ ПРИ ПОМОЩИ БПЛА</vt:lpstr>
      <vt:lpstr>Введение                                    </vt:lpstr>
      <vt:lpstr>Введение</vt:lpstr>
      <vt:lpstr>Представление задачи</vt:lpstr>
      <vt:lpstr>Представление задачи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МОДИФИКАЦИЯ TRIPLET LOSS  ДЛЯ ЗАДАЧИ РАСПОЗНАВАНИЯ ОБЪЕКТОВ  ИЗ ОТКРЫТОГО СЛОВАРЯ,  ПОЛУЧЕННЫХ ПРИ ПОМОЩИ БПЛА</dc:title>
  <dc:creator>Богдан</dc:creator>
  <cp:lastModifiedBy>Богдан</cp:lastModifiedBy>
  <cp:revision>13</cp:revision>
  <dcterms:created xsi:type="dcterms:W3CDTF">2024-11-21T18:52:13Z</dcterms:created>
  <dcterms:modified xsi:type="dcterms:W3CDTF">2024-11-21T22:35:20Z</dcterms:modified>
</cp:coreProperties>
</file>